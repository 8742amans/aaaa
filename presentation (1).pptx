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272" r:id="rId5"/>
    <p:sldId id="256" r:id="rId6"/>
    <p:sldId id="257" r:id="rId7"/>
    <p:sldId id="261" r:id="rId8"/>
    <p:sldId id="270" r:id="rId9"/>
    <p:sldId id="263" r:id="rId10"/>
    <p:sldId id="264" r:id="rId11"/>
    <p:sldId id="273" r:id="rId12"/>
    <p:sldId id="265" r:id="rId13"/>
    <p:sldId id="267" r:id="rId14"/>
    <p:sldId id="269" r:id="rId15"/>
  </p:sldIdLst>
  <p:sldSz cx="18288000" cy="10287000"/>
  <p:notesSz cx="6858000" cy="9144000"/>
  <p:embeddedFontLst>
    <p:embeddedFont>
      <p:font typeface="Merriweather Bold" panose="00000800000000000000" pitchFamily="2" charset="0"/>
      <p:bold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Viner Hand ITC" panose="03070502030502020203" pitchFamily="66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2D9A0-9121-4A09-8D59-E9FE78F7EC97}" v="140" dt="2025-04-14T11:07:04.022"/>
    <p1510:client id="{30B7843C-E3F8-98CA-EE0B-55B09C8EDF76}" v="4" dt="2025-04-14T04:52:50.726"/>
    <p1510:client id="{42D17557-5C4D-60D2-7969-91A2B7AD2FA5}" v="18" dt="2025-04-14T09:24:22.911"/>
    <p1510:client id="{578A064F-1E2E-0BFE-B60E-B86C09E65E36}" v="104" dt="2025-04-14T04:45:00.633"/>
    <p1510:client id="{6884C82C-4E0B-29DC-E868-CA044385439C}" v="632" dt="2025-04-14T06:36:39.255"/>
    <p1510:client id="{A1CD0101-0543-E680-80F6-57CFBC607011}" v="420" dt="2025-04-14T06:32:20.886"/>
    <p1510:client id="{FE540C9C-2562-4C78-4104-15DDF48380D9}" v="2" dt="2025-04-13T19:25:35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A8019-79E6-4F3E-8C05-BCE8DD9B7F70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D11D7-B89C-4C99-80D0-C2D0E2A6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5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288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94155" y="944867"/>
            <a:ext cx="14709890" cy="13719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9625"/>
              </a:lnSpc>
            </a:pPr>
            <a:r>
              <a:rPr lang="en-US" sz="76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Team: Migration Overflow</a:t>
            </a: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94155" y="2566701"/>
            <a:ext cx="1639789" cy="1108174"/>
            <a:chOff x="0" y="0"/>
            <a:chExt cx="2186385" cy="1477565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2173732" cy="1464818"/>
            </a:xfrm>
            <a:custGeom>
              <a:avLst/>
              <a:gdLst/>
              <a:ahLst/>
              <a:cxnLst/>
              <a:rect l="l" t="t" r="r" b="b"/>
              <a:pathLst>
                <a:path w="2173732" h="1464818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2014474" y="0"/>
                  </a:lnTo>
                  <a:cubicBezTo>
                    <a:pt x="2102358" y="0"/>
                    <a:pt x="2173732" y="71120"/>
                    <a:pt x="2173732" y="158750"/>
                  </a:cubicBezTo>
                  <a:lnTo>
                    <a:pt x="2173732" y="1306068"/>
                  </a:lnTo>
                  <a:cubicBezTo>
                    <a:pt x="2173732" y="1393698"/>
                    <a:pt x="2102485" y="1464818"/>
                    <a:pt x="2014474" y="1464818"/>
                  </a:cubicBezTo>
                  <a:lnTo>
                    <a:pt x="159258" y="1464818"/>
                  </a:lnTo>
                  <a:cubicBezTo>
                    <a:pt x="71374" y="1464818"/>
                    <a:pt x="0" y="1393698"/>
                    <a:pt x="0" y="1306068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186432" cy="1477518"/>
            </a:xfrm>
            <a:custGeom>
              <a:avLst/>
              <a:gdLst/>
              <a:ahLst/>
              <a:cxnLst/>
              <a:rect l="l" t="t" r="r" b="b"/>
              <a:pathLst>
                <a:path w="2186432" h="1477518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2020824" y="0"/>
                  </a:lnTo>
                  <a:lnTo>
                    <a:pt x="2020824" y="6350"/>
                  </a:lnTo>
                  <a:lnTo>
                    <a:pt x="2020824" y="0"/>
                  </a:lnTo>
                  <a:cubicBezTo>
                    <a:pt x="2112264" y="0"/>
                    <a:pt x="2186432" y="73914"/>
                    <a:pt x="2186432" y="165100"/>
                  </a:cubicBezTo>
                  <a:lnTo>
                    <a:pt x="2180082" y="165100"/>
                  </a:lnTo>
                  <a:lnTo>
                    <a:pt x="2186432" y="165100"/>
                  </a:lnTo>
                  <a:lnTo>
                    <a:pt x="2186432" y="1312418"/>
                  </a:lnTo>
                  <a:lnTo>
                    <a:pt x="2180082" y="1312418"/>
                  </a:lnTo>
                  <a:lnTo>
                    <a:pt x="2186432" y="1312418"/>
                  </a:lnTo>
                  <a:cubicBezTo>
                    <a:pt x="2186432" y="1403604"/>
                    <a:pt x="2112264" y="1477518"/>
                    <a:pt x="2020824" y="1477518"/>
                  </a:cubicBezTo>
                  <a:lnTo>
                    <a:pt x="2020824" y="1471168"/>
                  </a:lnTo>
                  <a:lnTo>
                    <a:pt x="2020824" y="1477518"/>
                  </a:lnTo>
                  <a:lnTo>
                    <a:pt x="165608" y="1477518"/>
                  </a:lnTo>
                  <a:lnTo>
                    <a:pt x="165608" y="1471168"/>
                  </a:lnTo>
                  <a:lnTo>
                    <a:pt x="165608" y="1477518"/>
                  </a:lnTo>
                  <a:cubicBezTo>
                    <a:pt x="74168" y="1477518"/>
                    <a:pt x="0" y="1403604"/>
                    <a:pt x="0" y="13124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12418"/>
                  </a:lnTo>
                  <a:lnTo>
                    <a:pt x="6350" y="1312418"/>
                  </a:lnTo>
                  <a:lnTo>
                    <a:pt x="12700" y="1312418"/>
                  </a:lnTo>
                  <a:cubicBezTo>
                    <a:pt x="12700" y="1396619"/>
                    <a:pt x="81153" y="1464818"/>
                    <a:pt x="165608" y="1464818"/>
                  </a:cubicBezTo>
                  <a:lnTo>
                    <a:pt x="2020824" y="1464818"/>
                  </a:lnTo>
                  <a:cubicBezTo>
                    <a:pt x="2105279" y="1464818"/>
                    <a:pt x="2173732" y="1396619"/>
                    <a:pt x="2173732" y="1312418"/>
                  </a:cubicBezTo>
                  <a:lnTo>
                    <a:pt x="2173732" y="165100"/>
                  </a:lnTo>
                  <a:cubicBezTo>
                    <a:pt x="2173732" y="80899"/>
                    <a:pt x="2105279" y="12700"/>
                    <a:pt x="2020824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447E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714619" y="2871649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959119" y="2854981"/>
            <a:ext cx="4366766" cy="531614"/>
            <a:chOff x="-71437" y="0"/>
            <a:chExt cx="5822355" cy="7088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72262" cy="708818"/>
            </a:xfrm>
            <a:custGeom>
              <a:avLst/>
              <a:gdLst/>
              <a:ahLst/>
              <a:cxnLst/>
              <a:rect l="l" t="t" r="r" b="b"/>
              <a:pathLst>
                <a:path w="5072262" h="708818">
                  <a:moveTo>
                    <a:pt x="0" y="0"/>
                  </a:moveTo>
                  <a:lnTo>
                    <a:pt x="5072262" y="0"/>
                  </a:lnTo>
                  <a:lnTo>
                    <a:pt x="507226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71437" y="14287"/>
              <a:ext cx="5822355" cy="670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0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Shubham Tulsyan</a:t>
              </a:r>
              <a:endParaRPr lang="en-US" sz="3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870865" y="3651062"/>
            <a:ext cx="14389894" cy="19050"/>
            <a:chOff x="0" y="0"/>
            <a:chExt cx="19186525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86525" cy="25400"/>
            </a:xfrm>
            <a:custGeom>
              <a:avLst/>
              <a:gdLst/>
              <a:ahLst/>
              <a:cxnLst/>
              <a:rect l="l" t="t" r="r" b="b"/>
              <a:pathLst>
                <a:path w="1918652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9173825" y="0"/>
                  </a:lnTo>
                  <a:cubicBezTo>
                    <a:pt x="19180811" y="0"/>
                    <a:pt x="19186525" y="5715"/>
                    <a:pt x="19186525" y="12700"/>
                  </a:cubicBezTo>
                  <a:cubicBezTo>
                    <a:pt x="19186525" y="19685"/>
                    <a:pt x="19180811" y="25400"/>
                    <a:pt x="1917382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5E98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4155" y="3807033"/>
            <a:ext cx="3270200" cy="1108174"/>
            <a:chOff x="0" y="0"/>
            <a:chExt cx="4360267" cy="1477565"/>
          </a:xfrm>
        </p:grpSpPr>
        <p:sp>
          <p:nvSpPr>
            <p:cNvPr id="18" name="Freeform 18"/>
            <p:cNvSpPr/>
            <p:nvPr/>
          </p:nvSpPr>
          <p:spPr>
            <a:xfrm>
              <a:off x="6350" y="6350"/>
              <a:ext cx="4347464" cy="1464818"/>
            </a:xfrm>
            <a:custGeom>
              <a:avLst/>
              <a:gdLst/>
              <a:ahLst/>
              <a:cxnLst/>
              <a:rect l="l" t="t" r="r" b="b"/>
              <a:pathLst>
                <a:path w="4347464" h="1464818">
                  <a:moveTo>
                    <a:pt x="0" y="158750"/>
                  </a:moveTo>
                  <a:cubicBezTo>
                    <a:pt x="0" y="71120"/>
                    <a:pt x="71501" y="0"/>
                    <a:pt x="159639" y="0"/>
                  </a:cubicBezTo>
                  <a:lnTo>
                    <a:pt x="4187825" y="0"/>
                  </a:lnTo>
                  <a:cubicBezTo>
                    <a:pt x="4275963" y="0"/>
                    <a:pt x="4347464" y="71120"/>
                    <a:pt x="4347464" y="158750"/>
                  </a:cubicBezTo>
                  <a:lnTo>
                    <a:pt x="4347464" y="1306068"/>
                  </a:lnTo>
                  <a:cubicBezTo>
                    <a:pt x="4347464" y="1393698"/>
                    <a:pt x="4275963" y="1464818"/>
                    <a:pt x="4187825" y="1464818"/>
                  </a:cubicBezTo>
                  <a:lnTo>
                    <a:pt x="159639" y="1464818"/>
                  </a:lnTo>
                  <a:cubicBezTo>
                    <a:pt x="71501" y="1464818"/>
                    <a:pt x="0" y="1393698"/>
                    <a:pt x="0" y="1306068"/>
                  </a:cubicBezTo>
                  <a:close/>
                </a:path>
              </a:pathLst>
            </a:custGeom>
            <a:solidFill>
              <a:srgbClr val="B05EF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4360164" cy="1477518"/>
            </a:xfrm>
            <a:custGeom>
              <a:avLst/>
              <a:gdLst/>
              <a:ahLst/>
              <a:cxnLst/>
              <a:rect l="l" t="t" r="r" b="b"/>
              <a:pathLst>
                <a:path w="4360164" h="1477518">
                  <a:moveTo>
                    <a:pt x="0" y="165100"/>
                  </a:moveTo>
                  <a:cubicBezTo>
                    <a:pt x="0" y="73914"/>
                    <a:pt x="74422" y="0"/>
                    <a:pt x="165989" y="0"/>
                  </a:cubicBezTo>
                  <a:lnTo>
                    <a:pt x="4194175" y="0"/>
                  </a:lnTo>
                  <a:lnTo>
                    <a:pt x="4194175" y="6350"/>
                  </a:lnTo>
                  <a:lnTo>
                    <a:pt x="4194175" y="0"/>
                  </a:lnTo>
                  <a:cubicBezTo>
                    <a:pt x="4285869" y="0"/>
                    <a:pt x="4360164" y="73914"/>
                    <a:pt x="4360164" y="165100"/>
                  </a:cubicBezTo>
                  <a:lnTo>
                    <a:pt x="4353814" y="165100"/>
                  </a:lnTo>
                  <a:lnTo>
                    <a:pt x="4360164" y="165100"/>
                  </a:lnTo>
                  <a:lnTo>
                    <a:pt x="4360164" y="1312418"/>
                  </a:lnTo>
                  <a:lnTo>
                    <a:pt x="4353814" y="1312418"/>
                  </a:lnTo>
                  <a:lnTo>
                    <a:pt x="4360164" y="1312418"/>
                  </a:lnTo>
                  <a:cubicBezTo>
                    <a:pt x="4360164" y="1403604"/>
                    <a:pt x="4285742" y="1477518"/>
                    <a:pt x="4194175" y="1477518"/>
                  </a:cubicBezTo>
                  <a:lnTo>
                    <a:pt x="4194175" y="1471168"/>
                  </a:lnTo>
                  <a:lnTo>
                    <a:pt x="4194175" y="1477518"/>
                  </a:lnTo>
                  <a:lnTo>
                    <a:pt x="165989" y="1477518"/>
                  </a:lnTo>
                  <a:lnTo>
                    <a:pt x="165989" y="1471168"/>
                  </a:lnTo>
                  <a:lnTo>
                    <a:pt x="165989" y="1477518"/>
                  </a:lnTo>
                  <a:cubicBezTo>
                    <a:pt x="74295" y="1477518"/>
                    <a:pt x="0" y="1403604"/>
                    <a:pt x="0" y="13124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12418"/>
                  </a:lnTo>
                  <a:lnTo>
                    <a:pt x="6350" y="1312418"/>
                  </a:lnTo>
                  <a:lnTo>
                    <a:pt x="12700" y="1312418"/>
                  </a:lnTo>
                  <a:cubicBezTo>
                    <a:pt x="12700" y="1396619"/>
                    <a:pt x="81280" y="1464818"/>
                    <a:pt x="165989" y="1464818"/>
                  </a:cubicBezTo>
                  <a:lnTo>
                    <a:pt x="4194175" y="1464818"/>
                  </a:lnTo>
                  <a:cubicBezTo>
                    <a:pt x="4278884" y="1464818"/>
                    <a:pt x="4347464" y="1396492"/>
                    <a:pt x="4347464" y="1312418"/>
                  </a:cubicBezTo>
                  <a:lnTo>
                    <a:pt x="4347464" y="165100"/>
                  </a:lnTo>
                  <a:cubicBezTo>
                    <a:pt x="4347464" y="80899"/>
                    <a:pt x="4278884" y="12700"/>
                    <a:pt x="4194175" y="12700"/>
                  </a:cubicBezTo>
                  <a:lnTo>
                    <a:pt x="165989" y="12700"/>
                  </a:lnTo>
                  <a:lnTo>
                    <a:pt x="165989" y="6350"/>
                  </a:lnTo>
                  <a:lnTo>
                    <a:pt x="165989" y="12700"/>
                  </a:lnTo>
                  <a:cubicBezTo>
                    <a:pt x="81280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9644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2529900" y="4111983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7"/>
                </a:lnTo>
                <a:lnTo>
                  <a:pt x="0" y="498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4598462" y="4095314"/>
            <a:ext cx="4265563" cy="531614"/>
            <a:chOff x="-59531" y="0"/>
            <a:chExt cx="5687418" cy="70881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75387" cy="708818"/>
            </a:xfrm>
            <a:custGeom>
              <a:avLst/>
              <a:gdLst/>
              <a:ahLst/>
              <a:cxnLst/>
              <a:rect l="l" t="t" r="r" b="b"/>
              <a:pathLst>
                <a:path w="4675387" h="708818">
                  <a:moveTo>
                    <a:pt x="0" y="0"/>
                  </a:moveTo>
                  <a:lnTo>
                    <a:pt x="4675387" y="0"/>
                  </a:lnTo>
                  <a:lnTo>
                    <a:pt x="467538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59531" y="14287"/>
              <a:ext cx="5687418" cy="6826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0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Ashish Chauhan</a:t>
              </a:r>
              <a:endParaRPr lang="en-US" sz="330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1278" y="4891396"/>
            <a:ext cx="12759481" cy="19050"/>
            <a:chOff x="0" y="0"/>
            <a:chExt cx="17012642" cy="25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012665" cy="25400"/>
            </a:xfrm>
            <a:custGeom>
              <a:avLst/>
              <a:gdLst/>
              <a:ahLst/>
              <a:cxnLst/>
              <a:rect l="l" t="t" r="r" b="b"/>
              <a:pathLst>
                <a:path w="1701266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6999965" y="0"/>
                  </a:lnTo>
                  <a:cubicBezTo>
                    <a:pt x="17006951" y="0"/>
                    <a:pt x="17012665" y="5715"/>
                    <a:pt x="17012665" y="12700"/>
                  </a:cubicBezTo>
                  <a:cubicBezTo>
                    <a:pt x="17012665" y="19685"/>
                    <a:pt x="17006951" y="25400"/>
                    <a:pt x="1699996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B05EF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4155" y="5047367"/>
            <a:ext cx="4900464" cy="1108174"/>
            <a:chOff x="0" y="0"/>
            <a:chExt cx="6533952" cy="1477565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6521323" cy="1464818"/>
            </a:xfrm>
            <a:custGeom>
              <a:avLst/>
              <a:gdLst/>
              <a:ahLst/>
              <a:cxnLst/>
              <a:rect l="l" t="t" r="r" b="b"/>
              <a:pathLst>
                <a:path w="6521323" h="1464818">
                  <a:moveTo>
                    <a:pt x="0" y="158750"/>
                  </a:moveTo>
                  <a:cubicBezTo>
                    <a:pt x="0" y="71120"/>
                    <a:pt x="71501" y="0"/>
                    <a:pt x="159893" y="0"/>
                  </a:cubicBezTo>
                  <a:lnTo>
                    <a:pt x="6361430" y="0"/>
                  </a:lnTo>
                  <a:cubicBezTo>
                    <a:pt x="6449695" y="0"/>
                    <a:pt x="6521323" y="71120"/>
                    <a:pt x="6521323" y="158750"/>
                  </a:cubicBezTo>
                  <a:lnTo>
                    <a:pt x="6521323" y="1306068"/>
                  </a:lnTo>
                  <a:cubicBezTo>
                    <a:pt x="6521323" y="1393698"/>
                    <a:pt x="6449822" y="1464818"/>
                    <a:pt x="6361430" y="1464818"/>
                  </a:cubicBezTo>
                  <a:lnTo>
                    <a:pt x="159893" y="1464818"/>
                  </a:lnTo>
                  <a:cubicBezTo>
                    <a:pt x="71628" y="1464818"/>
                    <a:pt x="0" y="1393698"/>
                    <a:pt x="0" y="1306068"/>
                  </a:cubicBezTo>
                  <a:close/>
                </a:path>
              </a:pathLst>
            </a:custGeom>
            <a:solidFill>
              <a:srgbClr val="FFA4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6534023" cy="1477518"/>
            </a:xfrm>
            <a:custGeom>
              <a:avLst/>
              <a:gdLst/>
              <a:ahLst/>
              <a:cxnLst/>
              <a:rect l="l" t="t" r="r" b="b"/>
              <a:pathLst>
                <a:path w="6534023" h="1477518">
                  <a:moveTo>
                    <a:pt x="0" y="165100"/>
                  </a:moveTo>
                  <a:cubicBezTo>
                    <a:pt x="0" y="73914"/>
                    <a:pt x="74422" y="0"/>
                    <a:pt x="166243" y="0"/>
                  </a:cubicBezTo>
                  <a:lnTo>
                    <a:pt x="6367780" y="0"/>
                  </a:lnTo>
                  <a:lnTo>
                    <a:pt x="6367780" y="6350"/>
                  </a:lnTo>
                  <a:lnTo>
                    <a:pt x="6367780" y="0"/>
                  </a:lnTo>
                  <a:cubicBezTo>
                    <a:pt x="6459474" y="0"/>
                    <a:pt x="6534023" y="73914"/>
                    <a:pt x="6534023" y="165100"/>
                  </a:cubicBezTo>
                  <a:lnTo>
                    <a:pt x="6527673" y="165100"/>
                  </a:lnTo>
                  <a:lnTo>
                    <a:pt x="6534023" y="165100"/>
                  </a:lnTo>
                  <a:lnTo>
                    <a:pt x="6534023" y="1312418"/>
                  </a:lnTo>
                  <a:lnTo>
                    <a:pt x="6527673" y="1312418"/>
                  </a:lnTo>
                  <a:lnTo>
                    <a:pt x="6534023" y="1312418"/>
                  </a:lnTo>
                  <a:cubicBezTo>
                    <a:pt x="6534023" y="1403604"/>
                    <a:pt x="6459601" y="1477518"/>
                    <a:pt x="6367780" y="1477518"/>
                  </a:cubicBezTo>
                  <a:lnTo>
                    <a:pt x="6367780" y="1471168"/>
                  </a:lnTo>
                  <a:lnTo>
                    <a:pt x="6367780" y="1477518"/>
                  </a:lnTo>
                  <a:lnTo>
                    <a:pt x="166243" y="1477518"/>
                  </a:lnTo>
                  <a:lnTo>
                    <a:pt x="166243" y="1471168"/>
                  </a:lnTo>
                  <a:lnTo>
                    <a:pt x="166243" y="1477518"/>
                  </a:lnTo>
                  <a:cubicBezTo>
                    <a:pt x="74549" y="1477518"/>
                    <a:pt x="0" y="1403604"/>
                    <a:pt x="0" y="13124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12418"/>
                  </a:lnTo>
                  <a:lnTo>
                    <a:pt x="6350" y="1312418"/>
                  </a:lnTo>
                  <a:lnTo>
                    <a:pt x="12700" y="1312418"/>
                  </a:lnTo>
                  <a:cubicBezTo>
                    <a:pt x="12700" y="1396619"/>
                    <a:pt x="81407" y="1464818"/>
                    <a:pt x="166243" y="1464818"/>
                  </a:cubicBezTo>
                  <a:lnTo>
                    <a:pt x="6367780" y="1464818"/>
                  </a:lnTo>
                  <a:cubicBezTo>
                    <a:pt x="6452616" y="1464818"/>
                    <a:pt x="6521323" y="1396492"/>
                    <a:pt x="6521323" y="1312418"/>
                  </a:cubicBezTo>
                  <a:lnTo>
                    <a:pt x="6521323" y="165100"/>
                  </a:lnTo>
                  <a:cubicBezTo>
                    <a:pt x="6521323" y="80899"/>
                    <a:pt x="6452616" y="12700"/>
                    <a:pt x="6367780" y="12700"/>
                  </a:cubicBezTo>
                  <a:lnTo>
                    <a:pt x="166243" y="12700"/>
                  </a:lnTo>
                  <a:lnTo>
                    <a:pt x="166243" y="6350"/>
                  </a:lnTo>
                  <a:lnTo>
                    <a:pt x="166243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58A3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3345031" y="5352316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6273374" y="5335647"/>
            <a:ext cx="4322415" cy="531614"/>
            <a:chOff x="0" y="0"/>
            <a:chExt cx="5763220" cy="7088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20283" cy="708818"/>
            </a:xfrm>
            <a:custGeom>
              <a:avLst/>
              <a:gdLst/>
              <a:ahLst/>
              <a:cxnLst/>
              <a:rect l="l" t="t" r="r" b="b"/>
              <a:pathLst>
                <a:path w="5120283" h="708818">
                  <a:moveTo>
                    <a:pt x="0" y="0"/>
                  </a:moveTo>
                  <a:lnTo>
                    <a:pt x="5120283" y="0"/>
                  </a:lnTo>
                  <a:lnTo>
                    <a:pt x="5120283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2380"/>
              <a:ext cx="5763220" cy="694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Divyanshu Pathak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31540" y="6131730"/>
            <a:ext cx="11129219" cy="19050"/>
            <a:chOff x="0" y="0"/>
            <a:chExt cx="14838958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838935" cy="25400"/>
            </a:xfrm>
            <a:custGeom>
              <a:avLst/>
              <a:gdLst/>
              <a:ahLst/>
              <a:cxnLst/>
              <a:rect l="l" t="t" r="r" b="b"/>
              <a:pathLst>
                <a:path w="1483893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4826235" y="0"/>
                  </a:lnTo>
                  <a:cubicBezTo>
                    <a:pt x="14833220" y="0"/>
                    <a:pt x="14838935" y="5715"/>
                    <a:pt x="14838935" y="12700"/>
                  </a:cubicBezTo>
                  <a:cubicBezTo>
                    <a:pt x="14838935" y="19685"/>
                    <a:pt x="14833220" y="25400"/>
                    <a:pt x="1482623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FFA44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94155" y="6287701"/>
            <a:ext cx="6530876" cy="1108174"/>
            <a:chOff x="0" y="0"/>
            <a:chExt cx="8707835" cy="1477565"/>
          </a:xfrm>
        </p:grpSpPr>
        <p:sp>
          <p:nvSpPr>
            <p:cNvPr id="36" name="Freeform 36"/>
            <p:cNvSpPr/>
            <p:nvPr/>
          </p:nvSpPr>
          <p:spPr>
            <a:xfrm>
              <a:off x="6350" y="6350"/>
              <a:ext cx="8695055" cy="1464818"/>
            </a:xfrm>
            <a:custGeom>
              <a:avLst/>
              <a:gdLst/>
              <a:ahLst/>
              <a:cxnLst/>
              <a:rect l="l" t="t" r="r" b="b"/>
              <a:pathLst>
                <a:path w="8695055" h="1464818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8535162" y="0"/>
                  </a:lnTo>
                  <a:cubicBezTo>
                    <a:pt x="8623427" y="0"/>
                    <a:pt x="8695055" y="71120"/>
                    <a:pt x="8695055" y="158750"/>
                  </a:cubicBezTo>
                  <a:lnTo>
                    <a:pt x="8695055" y="1306068"/>
                  </a:lnTo>
                  <a:cubicBezTo>
                    <a:pt x="8695055" y="1393698"/>
                    <a:pt x="8623427" y="1464818"/>
                    <a:pt x="8535162" y="1464818"/>
                  </a:cubicBezTo>
                  <a:lnTo>
                    <a:pt x="159893" y="1464818"/>
                  </a:lnTo>
                  <a:cubicBezTo>
                    <a:pt x="71628" y="1464818"/>
                    <a:pt x="0" y="1393698"/>
                    <a:pt x="0" y="1306068"/>
                  </a:cubicBezTo>
                  <a:close/>
                </a:path>
              </a:pathLst>
            </a:custGeom>
            <a:solidFill>
              <a:srgbClr val="AEE4B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8707755" cy="1477518"/>
            </a:xfrm>
            <a:custGeom>
              <a:avLst/>
              <a:gdLst/>
              <a:ahLst/>
              <a:cxnLst/>
              <a:rect l="l" t="t" r="r" b="b"/>
              <a:pathLst>
                <a:path w="8707755" h="1477518">
                  <a:moveTo>
                    <a:pt x="0" y="165100"/>
                  </a:moveTo>
                  <a:cubicBezTo>
                    <a:pt x="0" y="73914"/>
                    <a:pt x="74422" y="0"/>
                    <a:pt x="166243" y="0"/>
                  </a:cubicBezTo>
                  <a:lnTo>
                    <a:pt x="8541512" y="0"/>
                  </a:lnTo>
                  <a:lnTo>
                    <a:pt x="8541512" y="6350"/>
                  </a:lnTo>
                  <a:lnTo>
                    <a:pt x="8541512" y="0"/>
                  </a:lnTo>
                  <a:cubicBezTo>
                    <a:pt x="8633333" y="0"/>
                    <a:pt x="8707755" y="73914"/>
                    <a:pt x="8707755" y="165100"/>
                  </a:cubicBezTo>
                  <a:lnTo>
                    <a:pt x="8701405" y="165100"/>
                  </a:lnTo>
                  <a:lnTo>
                    <a:pt x="8707755" y="165100"/>
                  </a:lnTo>
                  <a:lnTo>
                    <a:pt x="8707755" y="1312418"/>
                  </a:lnTo>
                  <a:lnTo>
                    <a:pt x="8701405" y="1312418"/>
                  </a:lnTo>
                  <a:lnTo>
                    <a:pt x="8707755" y="1312418"/>
                  </a:lnTo>
                  <a:cubicBezTo>
                    <a:pt x="8707755" y="1403604"/>
                    <a:pt x="8633333" y="1477518"/>
                    <a:pt x="8541512" y="1477518"/>
                  </a:cubicBezTo>
                  <a:lnTo>
                    <a:pt x="8541512" y="1471168"/>
                  </a:lnTo>
                  <a:lnTo>
                    <a:pt x="8541512" y="1477518"/>
                  </a:lnTo>
                  <a:lnTo>
                    <a:pt x="166243" y="1477518"/>
                  </a:lnTo>
                  <a:lnTo>
                    <a:pt x="166243" y="1471168"/>
                  </a:lnTo>
                  <a:lnTo>
                    <a:pt x="166243" y="1477518"/>
                  </a:lnTo>
                  <a:cubicBezTo>
                    <a:pt x="74422" y="1477518"/>
                    <a:pt x="0" y="1403604"/>
                    <a:pt x="0" y="13124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12418"/>
                  </a:lnTo>
                  <a:lnTo>
                    <a:pt x="6350" y="1312418"/>
                  </a:lnTo>
                  <a:lnTo>
                    <a:pt x="12700" y="1312418"/>
                  </a:lnTo>
                  <a:cubicBezTo>
                    <a:pt x="12700" y="1396619"/>
                    <a:pt x="81407" y="1464818"/>
                    <a:pt x="166243" y="1464818"/>
                  </a:cubicBezTo>
                  <a:lnTo>
                    <a:pt x="8541512" y="1464818"/>
                  </a:lnTo>
                  <a:cubicBezTo>
                    <a:pt x="8626348" y="1464818"/>
                    <a:pt x="8695055" y="1396492"/>
                    <a:pt x="8695055" y="1312418"/>
                  </a:cubicBezTo>
                  <a:lnTo>
                    <a:pt x="8695055" y="165100"/>
                  </a:lnTo>
                  <a:cubicBezTo>
                    <a:pt x="8695055" y="80899"/>
                    <a:pt x="8626348" y="12700"/>
                    <a:pt x="8541512" y="12700"/>
                  </a:cubicBezTo>
                  <a:lnTo>
                    <a:pt x="166243" y="12700"/>
                  </a:lnTo>
                  <a:lnTo>
                    <a:pt x="166243" y="6350"/>
                  </a:lnTo>
                  <a:lnTo>
                    <a:pt x="166243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94CAA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Freeform 38" descr="preencoded.png"/>
          <p:cNvSpPr/>
          <p:nvPr/>
        </p:nvSpPr>
        <p:spPr>
          <a:xfrm>
            <a:off x="4160162" y="6592650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7903785" y="6575981"/>
            <a:ext cx="2831306" cy="531614"/>
            <a:chOff x="0" y="0"/>
            <a:chExt cx="3775075" cy="7088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41700" cy="708818"/>
            </a:xfrm>
            <a:custGeom>
              <a:avLst/>
              <a:gdLst/>
              <a:ahLst/>
              <a:cxnLst/>
              <a:rect l="l" t="t" r="r" b="b"/>
              <a:pathLst>
                <a:path w="3441700" h="708818">
                  <a:moveTo>
                    <a:pt x="0" y="0"/>
                  </a:moveTo>
                  <a:lnTo>
                    <a:pt x="3441700" y="0"/>
                  </a:lnTo>
                  <a:lnTo>
                    <a:pt x="3441700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2380"/>
              <a:ext cx="3775075" cy="694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Aman Singh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61952" y="7372063"/>
            <a:ext cx="9498806" cy="19050"/>
            <a:chOff x="0" y="0"/>
            <a:chExt cx="12665075" cy="25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665075" cy="25400"/>
            </a:xfrm>
            <a:custGeom>
              <a:avLst/>
              <a:gdLst/>
              <a:ahLst/>
              <a:cxnLst/>
              <a:rect l="l" t="t" r="r" b="b"/>
              <a:pathLst>
                <a:path w="12665075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2652375" y="0"/>
                  </a:lnTo>
                  <a:cubicBezTo>
                    <a:pt x="12659360" y="0"/>
                    <a:pt x="12665075" y="5715"/>
                    <a:pt x="12665075" y="12700"/>
                  </a:cubicBezTo>
                  <a:cubicBezTo>
                    <a:pt x="12665075" y="19685"/>
                    <a:pt x="12659360" y="25400"/>
                    <a:pt x="12652375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AEE4B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94155" y="7528034"/>
            <a:ext cx="8161288" cy="1108174"/>
            <a:chOff x="0" y="0"/>
            <a:chExt cx="10881717" cy="1477565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10869040" cy="1464818"/>
            </a:xfrm>
            <a:custGeom>
              <a:avLst/>
              <a:gdLst/>
              <a:ahLst/>
              <a:cxnLst/>
              <a:rect l="l" t="t" r="r" b="b"/>
              <a:pathLst>
                <a:path w="10869040" h="1464818">
                  <a:moveTo>
                    <a:pt x="0" y="158750"/>
                  </a:moveTo>
                  <a:cubicBezTo>
                    <a:pt x="0" y="71120"/>
                    <a:pt x="71628" y="0"/>
                    <a:pt x="160020" y="0"/>
                  </a:cubicBezTo>
                  <a:lnTo>
                    <a:pt x="10709021" y="0"/>
                  </a:lnTo>
                  <a:cubicBezTo>
                    <a:pt x="10797413" y="0"/>
                    <a:pt x="10869040" y="71120"/>
                    <a:pt x="10869040" y="158750"/>
                  </a:cubicBezTo>
                  <a:lnTo>
                    <a:pt x="10869040" y="1306068"/>
                  </a:lnTo>
                  <a:cubicBezTo>
                    <a:pt x="10869040" y="1393698"/>
                    <a:pt x="10797413" y="1464818"/>
                    <a:pt x="10709021" y="1464818"/>
                  </a:cubicBezTo>
                  <a:lnTo>
                    <a:pt x="160020" y="1464818"/>
                  </a:lnTo>
                  <a:cubicBezTo>
                    <a:pt x="71628" y="1464818"/>
                    <a:pt x="0" y="1393698"/>
                    <a:pt x="0" y="1306068"/>
                  </a:cubicBezTo>
                  <a:close/>
                </a:path>
              </a:pathLst>
            </a:custGeom>
            <a:solidFill>
              <a:srgbClr val="AFCB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10881740" cy="1477518"/>
            </a:xfrm>
            <a:custGeom>
              <a:avLst/>
              <a:gdLst/>
              <a:ahLst/>
              <a:cxnLst/>
              <a:rect l="l" t="t" r="r" b="b"/>
              <a:pathLst>
                <a:path w="10881740" h="1477518">
                  <a:moveTo>
                    <a:pt x="0" y="165100"/>
                  </a:moveTo>
                  <a:cubicBezTo>
                    <a:pt x="0" y="73914"/>
                    <a:pt x="74549" y="0"/>
                    <a:pt x="166370" y="0"/>
                  </a:cubicBezTo>
                  <a:lnTo>
                    <a:pt x="10715371" y="0"/>
                  </a:lnTo>
                  <a:lnTo>
                    <a:pt x="10715371" y="6350"/>
                  </a:lnTo>
                  <a:lnTo>
                    <a:pt x="10715371" y="0"/>
                  </a:lnTo>
                  <a:cubicBezTo>
                    <a:pt x="10807192" y="0"/>
                    <a:pt x="10881740" y="73914"/>
                    <a:pt x="10881740" y="165100"/>
                  </a:cubicBezTo>
                  <a:lnTo>
                    <a:pt x="10875390" y="165100"/>
                  </a:lnTo>
                  <a:lnTo>
                    <a:pt x="10881740" y="165100"/>
                  </a:lnTo>
                  <a:lnTo>
                    <a:pt x="10881740" y="1312418"/>
                  </a:lnTo>
                  <a:lnTo>
                    <a:pt x="10875390" y="1312418"/>
                  </a:lnTo>
                  <a:lnTo>
                    <a:pt x="10881740" y="1312418"/>
                  </a:lnTo>
                  <a:cubicBezTo>
                    <a:pt x="10881740" y="1403604"/>
                    <a:pt x="10807192" y="1477518"/>
                    <a:pt x="10715371" y="1477518"/>
                  </a:cubicBezTo>
                  <a:lnTo>
                    <a:pt x="10715371" y="1471168"/>
                  </a:lnTo>
                  <a:lnTo>
                    <a:pt x="10715371" y="1477518"/>
                  </a:lnTo>
                  <a:lnTo>
                    <a:pt x="166370" y="1477518"/>
                  </a:lnTo>
                  <a:lnTo>
                    <a:pt x="166370" y="1471168"/>
                  </a:lnTo>
                  <a:lnTo>
                    <a:pt x="166370" y="1477518"/>
                  </a:lnTo>
                  <a:cubicBezTo>
                    <a:pt x="74549" y="1477518"/>
                    <a:pt x="0" y="1403604"/>
                    <a:pt x="0" y="131241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1312418"/>
                  </a:lnTo>
                  <a:lnTo>
                    <a:pt x="6350" y="1312418"/>
                  </a:lnTo>
                  <a:lnTo>
                    <a:pt x="12700" y="1312418"/>
                  </a:lnTo>
                  <a:cubicBezTo>
                    <a:pt x="12700" y="1396619"/>
                    <a:pt x="81407" y="1464818"/>
                    <a:pt x="166370" y="1464818"/>
                  </a:cubicBezTo>
                  <a:lnTo>
                    <a:pt x="10715371" y="1464818"/>
                  </a:lnTo>
                  <a:cubicBezTo>
                    <a:pt x="10800207" y="1464818"/>
                    <a:pt x="10869040" y="1396492"/>
                    <a:pt x="10869040" y="1312418"/>
                  </a:cubicBezTo>
                  <a:lnTo>
                    <a:pt x="10869040" y="165100"/>
                  </a:lnTo>
                  <a:cubicBezTo>
                    <a:pt x="10869040" y="80899"/>
                    <a:pt x="10800334" y="12700"/>
                    <a:pt x="10715371" y="12700"/>
                  </a:cubicBezTo>
                  <a:lnTo>
                    <a:pt x="166370" y="12700"/>
                  </a:lnTo>
                  <a:lnTo>
                    <a:pt x="166370" y="6350"/>
                  </a:lnTo>
                  <a:lnTo>
                    <a:pt x="166370" y="12700"/>
                  </a:lnTo>
                  <a:cubicBezTo>
                    <a:pt x="81407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95B1D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4975444" y="7832983"/>
            <a:ext cx="398710" cy="498276"/>
          </a:xfrm>
          <a:custGeom>
            <a:avLst/>
            <a:gdLst/>
            <a:ahLst/>
            <a:cxnLst/>
            <a:rect l="l" t="t" r="r" b="b"/>
            <a:pathLst>
              <a:path w="398710" h="498276">
                <a:moveTo>
                  <a:pt x="0" y="0"/>
                </a:moveTo>
                <a:lnTo>
                  <a:pt x="398710" y="0"/>
                </a:lnTo>
                <a:lnTo>
                  <a:pt x="398710" y="498276"/>
                </a:lnTo>
                <a:lnTo>
                  <a:pt x="0" y="49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9" r="-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/>
          <p:nvPr/>
        </p:nvGrpSpPr>
        <p:grpSpPr>
          <a:xfrm>
            <a:off x="9534198" y="7821270"/>
            <a:ext cx="4746961" cy="514875"/>
            <a:chOff x="0" y="-9525"/>
            <a:chExt cx="3976897" cy="71834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771702" cy="708818"/>
            </a:xfrm>
            <a:custGeom>
              <a:avLst/>
              <a:gdLst/>
              <a:ahLst/>
              <a:cxnLst/>
              <a:rect l="l" t="t" r="r" b="b"/>
              <a:pathLst>
                <a:path w="3771702" h="708818">
                  <a:moveTo>
                    <a:pt x="0" y="0"/>
                  </a:moveTo>
                  <a:lnTo>
                    <a:pt x="3771702" y="0"/>
                  </a:lnTo>
                  <a:lnTo>
                    <a:pt x="3771702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3976897" cy="7183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25"/>
                </a:lnSpc>
              </a:pPr>
              <a:r>
                <a:rPr lang="en-US" sz="3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Nitish Pareek</a:t>
              </a:r>
            </a:p>
          </p:txBody>
        </p:sp>
      </p:grpSp>
      <p:pic>
        <p:nvPicPr>
          <p:cNvPr id="52" name="Picture 51" descr="HashedIn by Deloitte">
            <a:extLst>
              <a:ext uri="{FF2B5EF4-FFF2-40B4-BE49-F238E27FC236}">
                <a16:creationId xmlns:a16="http://schemas.microsoft.com/office/drawing/2014/main" id="{567B9768-3965-C389-F8FD-62FED75932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C6DFBEEA-9198-4662-FFAD-F1FC00320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72488"/>
              </p:ext>
            </p:extLst>
          </p:nvPr>
        </p:nvGraphicFramePr>
        <p:xfrm>
          <a:off x="1094155" y="9054910"/>
          <a:ext cx="16436608" cy="701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8470">
                  <a:extLst>
                    <a:ext uri="{9D8B030D-6E8A-4147-A177-3AD203B41FA5}">
                      <a16:colId xmlns:a16="http://schemas.microsoft.com/office/drawing/2014/main" val="4215902896"/>
                    </a:ext>
                  </a:extLst>
                </a:gridCol>
                <a:gridCol w="7958138">
                  <a:extLst>
                    <a:ext uri="{9D8B030D-6E8A-4147-A177-3AD203B41FA5}">
                      <a16:colId xmlns:a16="http://schemas.microsoft.com/office/drawing/2014/main" val="91239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/>
                        <a:t>Product Coach</a:t>
                      </a:r>
                      <a:r>
                        <a:rPr lang="en-US" sz="4000"/>
                        <a:t>: Subhodeep Sarkar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/>
                        <a:t>Tech Coach</a:t>
                      </a:r>
                      <a:r>
                        <a:rPr lang="en-US" sz="4000"/>
                        <a:t>: Subham Chowdhury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08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315161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17585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850237" y="2436790"/>
            <a:ext cx="7088237" cy="1163186"/>
            <a:chOff x="0" y="0"/>
            <a:chExt cx="9450983" cy="15509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50984" cy="1550915"/>
            </a:xfrm>
            <a:custGeom>
              <a:avLst/>
              <a:gdLst/>
              <a:ahLst/>
              <a:cxnLst/>
              <a:rect l="l" t="t" r="r" b="b"/>
              <a:pathLst>
                <a:path w="9450984" h="1550915">
                  <a:moveTo>
                    <a:pt x="0" y="0"/>
                  </a:moveTo>
                  <a:lnTo>
                    <a:pt x="9450984" y="0"/>
                  </a:lnTo>
                  <a:lnTo>
                    <a:pt x="9450984" y="1550915"/>
                  </a:lnTo>
                  <a:lnTo>
                    <a:pt x="0" y="15509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450983" cy="15794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436"/>
                </a:lnSpc>
              </a:pPr>
              <a:r>
                <a:rPr lang="en-US" sz="5962" b="1">
                  <a:solidFill>
                    <a:srgbClr val="F44444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Dive into the Issue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50237" y="3974736"/>
            <a:ext cx="9445526" cy="4211112"/>
            <a:chOff x="0" y="0"/>
            <a:chExt cx="12594035" cy="56148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94035" cy="5614816"/>
            </a:xfrm>
            <a:custGeom>
              <a:avLst/>
              <a:gdLst/>
              <a:ahLst/>
              <a:cxnLst/>
              <a:rect l="l" t="t" r="r" b="b"/>
              <a:pathLst>
                <a:path w="12594035" h="5614816">
                  <a:moveTo>
                    <a:pt x="0" y="0"/>
                  </a:moveTo>
                  <a:lnTo>
                    <a:pt x="12594035" y="0"/>
                  </a:lnTo>
                  <a:lnTo>
                    <a:pt x="12594035" y="5614816"/>
                  </a:lnTo>
                  <a:lnTo>
                    <a:pt x="0" y="56148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2594035" cy="572911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760"/>
                </a:lnSpc>
              </a:pPr>
              <a:r>
                <a:rPr lang="en-US" sz="2949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Manually analyzing and migrating large monolithic codebases to microservices is slow, error-prone, and requires deep technical expertise. There is a need for an intelligent, automated solution that can analyze code, suggest service boundaries, and generate a clean microservice structure with minimal manual effort.</a:t>
              </a:r>
            </a:p>
          </p:txBody>
        </p:sp>
      </p:grpSp>
      <p:pic>
        <p:nvPicPr>
          <p:cNvPr id="12" name="Picture 11" descr="HashedIn by Deloitte">
            <a:extLst>
              <a:ext uri="{FF2B5EF4-FFF2-40B4-BE49-F238E27FC236}">
                <a16:creationId xmlns:a16="http://schemas.microsoft.com/office/drawing/2014/main" id="{F580AED1-ADDF-7D13-BF69-4F2B35260B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96" r="-827" b="26923"/>
          <a:stretch/>
        </p:blipFill>
        <p:spPr>
          <a:xfrm>
            <a:off x="1099" y="-1854"/>
            <a:ext cx="2160838" cy="91620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336649" y="908149"/>
            <a:ext cx="8470701" cy="8470701"/>
          </a:xfrm>
          <a:custGeom>
            <a:avLst/>
            <a:gdLst/>
            <a:ahLst/>
            <a:cxnLst/>
            <a:rect l="l" t="t" r="r" b="b"/>
            <a:pathLst>
              <a:path w="8470701" h="8470701">
                <a:moveTo>
                  <a:pt x="0" y="0"/>
                </a:moveTo>
                <a:lnTo>
                  <a:pt x="8470701" y="0"/>
                </a:lnTo>
                <a:lnTo>
                  <a:pt x="8470701" y="8470701"/>
                </a:lnTo>
                <a:lnTo>
                  <a:pt x="0" y="8470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136237" y="1002506"/>
            <a:ext cx="7159526" cy="4646414"/>
            <a:chOff x="0" y="0"/>
            <a:chExt cx="9546035" cy="6195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46035" cy="6195218"/>
            </a:xfrm>
            <a:custGeom>
              <a:avLst/>
              <a:gdLst/>
              <a:ahLst/>
              <a:cxnLst/>
              <a:rect l="l" t="t" r="r" b="b"/>
              <a:pathLst>
                <a:path w="9546035" h="6195218">
                  <a:moveTo>
                    <a:pt x="0" y="0"/>
                  </a:moveTo>
                  <a:lnTo>
                    <a:pt x="9546035" y="0"/>
                  </a:lnTo>
                  <a:lnTo>
                    <a:pt x="9546035" y="6195218"/>
                  </a:lnTo>
                  <a:lnTo>
                    <a:pt x="0" y="6195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546035" cy="62428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125"/>
                </a:lnSpc>
              </a:pPr>
              <a:r>
                <a:rPr lang="en-US" sz="7312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Monolithic to Microservices Migration Plan Generator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36237" y="6052840"/>
            <a:ext cx="7159526" cy="3231654"/>
            <a:chOff x="0" y="0"/>
            <a:chExt cx="9546035" cy="4308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46035" cy="4308872"/>
            </a:xfrm>
            <a:custGeom>
              <a:avLst/>
              <a:gdLst/>
              <a:ahLst/>
              <a:cxnLst/>
              <a:rect l="l" t="t" r="r" b="b"/>
              <a:pathLst>
                <a:path w="9546035" h="4308872">
                  <a:moveTo>
                    <a:pt x="0" y="0"/>
                  </a:moveTo>
                  <a:lnTo>
                    <a:pt x="9546035" y="0"/>
                  </a:lnTo>
                  <a:lnTo>
                    <a:pt x="9546035" y="4308872"/>
                  </a:lnTo>
                  <a:lnTo>
                    <a:pt x="0" y="4308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9546035" cy="44041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187"/>
                </a:lnSpc>
              </a:pPr>
              <a:r>
                <a:rPr lang="en-US" sz="2625">
                  <a:solidFill>
                    <a:srgbClr val="403C4E"/>
                  </a:solidFill>
                  <a:latin typeface="Open Sans"/>
                  <a:ea typeface="Open Sans"/>
                  <a:cs typeface="Open Sans"/>
                  <a:sym typeface="Open Sans"/>
                </a:rPr>
                <a:t>This project focuses on analyzing an existing monolithic codebase. It is systematically transforming it into a microservices architecture. The process leverages LLMs for intelligent code understanding, service decomposition, and documentation.</a:t>
              </a:r>
            </a:p>
          </p:txBody>
        </p:sp>
      </p:grpSp>
      <p:pic>
        <p:nvPicPr>
          <p:cNvPr id="13" name="Picture 12" descr="HashedIn by Deloitte">
            <a:extLst>
              <a:ext uri="{FF2B5EF4-FFF2-40B4-BE49-F238E27FC236}">
                <a16:creationId xmlns:a16="http://schemas.microsoft.com/office/drawing/2014/main" id="{089E1062-9C22-6310-D64B-47AF75E679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8" y="864394"/>
            <a:ext cx="9868469" cy="1309362"/>
            <a:chOff x="0" y="0"/>
            <a:chExt cx="13157958" cy="17458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42503" cy="1630363"/>
            </a:xfrm>
            <a:custGeom>
              <a:avLst/>
              <a:gdLst/>
              <a:ahLst/>
              <a:cxnLst/>
              <a:rect l="l" t="t" r="r" b="b"/>
              <a:pathLst>
                <a:path w="13042503" h="1630363">
                  <a:moveTo>
                    <a:pt x="0" y="0"/>
                  </a:moveTo>
                  <a:lnTo>
                    <a:pt x="13042503" y="0"/>
                  </a:lnTo>
                  <a:lnTo>
                    <a:pt x="13042503" y="1630363"/>
                  </a:lnTo>
                  <a:lnTo>
                    <a:pt x="0" y="16303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5455" y="67829"/>
              <a:ext cx="13042503" cy="16779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625"/>
                </a:lnSpc>
              </a:pPr>
              <a:r>
                <a:rPr lang="en-US" sz="7687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Project Objectives</a:t>
              </a:r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992238" y="2654201"/>
            <a:ext cx="5434459" cy="1134070"/>
          </a:xfrm>
          <a:custGeom>
            <a:avLst/>
            <a:gdLst/>
            <a:ahLst/>
            <a:cxnLst/>
            <a:rect l="l" t="t" r="r" b="b"/>
            <a:pathLst>
              <a:path w="5434459" h="1134070">
                <a:moveTo>
                  <a:pt x="0" y="0"/>
                </a:moveTo>
                <a:lnTo>
                  <a:pt x="5434458" y="0"/>
                </a:lnTo>
                <a:lnTo>
                  <a:pt x="5434458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" r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275755" y="4213472"/>
            <a:ext cx="4867424" cy="1328738"/>
            <a:chOff x="0" y="0"/>
            <a:chExt cx="6489898" cy="17716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89898" cy="1771650"/>
            </a:xfrm>
            <a:custGeom>
              <a:avLst/>
              <a:gdLst/>
              <a:ahLst/>
              <a:cxnLst/>
              <a:rect l="l" t="t" r="r" b="b"/>
              <a:pathLst>
                <a:path w="6489898" h="1771650">
                  <a:moveTo>
                    <a:pt x="0" y="0"/>
                  </a:moveTo>
                  <a:lnTo>
                    <a:pt x="6489898" y="0"/>
                  </a:lnTo>
                  <a:lnTo>
                    <a:pt x="6489898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6489898" cy="1781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Understand and evaluate the structure of the monolithic application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6426696" y="2654201"/>
            <a:ext cx="5434459" cy="1134070"/>
          </a:xfrm>
          <a:custGeom>
            <a:avLst/>
            <a:gdLst/>
            <a:ahLst/>
            <a:cxnLst/>
            <a:rect l="l" t="t" r="r" b="b"/>
            <a:pathLst>
              <a:path w="5434459" h="1134070">
                <a:moveTo>
                  <a:pt x="0" y="0"/>
                </a:moveTo>
                <a:lnTo>
                  <a:pt x="5434459" y="0"/>
                </a:lnTo>
                <a:lnTo>
                  <a:pt x="5434459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" r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6710214" y="4213472"/>
            <a:ext cx="4867424" cy="885825"/>
            <a:chOff x="0" y="0"/>
            <a:chExt cx="6489898" cy="1181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489898" cy="1181100"/>
            </a:xfrm>
            <a:custGeom>
              <a:avLst/>
              <a:gdLst/>
              <a:ahLst/>
              <a:cxnLst/>
              <a:rect l="l" t="t" r="r" b="b"/>
              <a:pathLst>
                <a:path w="6489898" h="1181100">
                  <a:moveTo>
                    <a:pt x="0" y="0"/>
                  </a:moveTo>
                  <a:lnTo>
                    <a:pt x="6489898" y="0"/>
                  </a:lnTo>
                  <a:lnTo>
                    <a:pt x="648989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489898" cy="11906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Identify logical service boundaries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1861155" y="2654201"/>
            <a:ext cx="5434459" cy="1134070"/>
          </a:xfrm>
          <a:custGeom>
            <a:avLst/>
            <a:gdLst/>
            <a:ahLst/>
            <a:cxnLst/>
            <a:rect l="l" t="t" r="r" b="b"/>
            <a:pathLst>
              <a:path w="5434459" h="1134070">
                <a:moveTo>
                  <a:pt x="0" y="0"/>
                </a:moveTo>
                <a:lnTo>
                  <a:pt x="5434459" y="0"/>
                </a:lnTo>
                <a:lnTo>
                  <a:pt x="5434459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5" r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2144672" y="4213472"/>
            <a:ext cx="4867424" cy="885825"/>
            <a:chOff x="0" y="0"/>
            <a:chExt cx="6489898" cy="1181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489898" cy="1181100"/>
            </a:xfrm>
            <a:custGeom>
              <a:avLst/>
              <a:gdLst/>
              <a:ahLst/>
              <a:cxnLst/>
              <a:rect l="l" t="t" r="r" b="b"/>
              <a:pathLst>
                <a:path w="6489898" h="1181100">
                  <a:moveTo>
                    <a:pt x="0" y="0"/>
                  </a:moveTo>
                  <a:lnTo>
                    <a:pt x="6489898" y="0"/>
                  </a:lnTo>
                  <a:lnTo>
                    <a:pt x="6489898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489898" cy="11906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Propose a microservices-based structure</a:t>
              </a:r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992238" y="6250930"/>
            <a:ext cx="5434459" cy="1134070"/>
          </a:xfrm>
          <a:custGeom>
            <a:avLst/>
            <a:gdLst/>
            <a:ahLst/>
            <a:cxnLst/>
            <a:rect l="l" t="t" r="r" b="b"/>
            <a:pathLst>
              <a:path w="5434459" h="1134070">
                <a:moveTo>
                  <a:pt x="0" y="0"/>
                </a:moveTo>
                <a:lnTo>
                  <a:pt x="5434458" y="0"/>
                </a:lnTo>
                <a:lnTo>
                  <a:pt x="5434458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" r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275755" y="7810202"/>
            <a:ext cx="4867424" cy="1328738"/>
            <a:chOff x="0" y="0"/>
            <a:chExt cx="6489898" cy="17716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489898" cy="1771650"/>
            </a:xfrm>
            <a:custGeom>
              <a:avLst/>
              <a:gdLst/>
              <a:ahLst/>
              <a:cxnLst/>
              <a:rect l="l" t="t" r="r" b="b"/>
              <a:pathLst>
                <a:path w="6489898" h="1771650">
                  <a:moveTo>
                    <a:pt x="0" y="0"/>
                  </a:moveTo>
                  <a:lnTo>
                    <a:pt x="6489898" y="0"/>
                  </a:lnTo>
                  <a:lnTo>
                    <a:pt x="6489898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489898" cy="1781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Automate documentation and folder generation using LLMs</a:t>
              </a:r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6426696" y="6250930"/>
            <a:ext cx="5434459" cy="1134070"/>
          </a:xfrm>
          <a:custGeom>
            <a:avLst/>
            <a:gdLst/>
            <a:ahLst/>
            <a:cxnLst/>
            <a:rect l="l" t="t" r="r" b="b"/>
            <a:pathLst>
              <a:path w="5434459" h="1134070">
                <a:moveTo>
                  <a:pt x="0" y="0"/>
                </a:moveTo>
                <a:lnTo>
                  <a:pt x="5434459" y="0"/>
                </a:lnTo>
                <a:lnTo>
                  <a:pt x="5434459" y="1134070"/>
                </a:lnTo>
                <a:lnTo>
                  <a:pt x="0" y="1134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5" r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6710214" y="7810202"/>
            <a:ext cx="4867424" cy="1328738"/>
            <a:chOff x="0" y="0"/>
            <a:chExt cx="6489898" cy="17716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489898" cy="1771650"/>
            </a:xfrm>
            <a:custGeom>
              <a:avLst/>
              <a:gdLst/>
              <a:ahLst/>
              <a:cxnLst/>
              <a:rect l="l" t="t" r="r" b="b"/>
              <a:pathLst>
                <a:path w="6489898" h="1771650">
                  <a:moveTo>
                    <a:pt x="0" y="0"/>
                  </a:moveTo>
                  <a:lnTo>
                    <a:pt x="6489898" y="0"/>
                  </a:lnTo>
                  <a:lnTo>
                    <a:pt x="6489898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489898" cy="17811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37"/>
                </a:lnSpc>
              </a:pPr>
              <a:r>
                <a:rPr lang="en-US" sz="2750" b="1">
                  <a:solidFill>
                    <a:srgbClr val="403C4E"/>
                  </a:solidFill>
                  <a:latin typeface="Merriweather Bold"/>
                  <a:ea typeface="Merriweather Bold"/>
                  <a:cs typeface="Merriweather Bold"/>
                  <a:sym typeface="Merriweather Bold"/>
                </a:rPr>
                <a:t>Deliver a structured .MD File and folder layout for developers</a:t>
              </a:r>
            </a:p>
          </p:txBody>
        </p:sp>
      </p:grpSp>
      <p:pic>
        <p:nvPicPr>
          <p:cNvPr id="29" name="Picture 28" descr="HashedIn by Deloitte">
            <a:extLst>
              <a:ext uri="{FF2B5EF4-FFF2-40B4-BE49-F238E27FC236}">
                <a16:creationId xmlns:a16="http://schemas.microsoft.com/office/drawing/2014/main" id="{AC9B1649-BD4C-79B7-F1C9-27B6FC59D3F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5BB1AC5-B2D5-068D-4F77-398729FB9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84685"/>
            <a:ext cx="18288000" cy="93023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D61ABE-127E-A23B-B079-E7BC97164506}"/>
              </a:ext>
            </a:extLst>
          </p:cNvPr>
          <p:cNvSpPr txBox="1"/>
          <p:nvPr/>
        </p:nvSpPr>
        <p:spPr>
          <a:xfrm>
            <a:off x="2789696" y="165991"/>
            <a:ext cx="1353731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000"/>
              <a:t>High Level Diagram (HLL)</a:t>
            </a:r>
          </a:p>
        </p:txBody>
      </p:sp>
      <p:pic>
        <p:nvPicPr>
          <p:cNvPr id="3" name="Picture 2" descr="HashedIn by Deloitte">
            <a:extLst>
              <a:ext uri="{FF2B5EF4-FFF2-40B4-BE49-F238E27FC236}">
                <a16:creationId xmlns:a16="http://schemas.microsoft.com/office/drawing/2014/main" id="{632B48F6-7A9E-8CE1-49A9-67466DCB08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07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-2424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44191" y="1757429"/>
            <a:ext cx="9878481" cy="245656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9125"/>
              </a:lnSpc>
            </a:pPr>
            <a:r>
              <a:rPr lang="en-US" sz="7300" b="1">
                <a:solidFill>
                  <a:srgbClr val="403C4E"/>
                </a:solidFill>
                <a:ea typeface="+mn-lt"/>
                <a:cs typeface="+mn-lt"/>
                <a:sym typeface="Merriweather Bold"/>
              </a:rPr>
              <a:t>Repository Cloning &amp; File Analysis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044191" y="4437439"/>
            <a:ext cx="9393572" cy="4225801"/>
          </a:xfrm>
          <a:custGeom>
            <a:avLst/>
            <a:gdLst/>
            <a:ahLst/>
            <a:cxnLst/>
            <a:rect l="l" t="t" r="r" b="b"/>
            <a:pathLst>
              <a:path w="12594035" h="739129">
                <a:moveTo>
                  <a:pt x="0" y="0"/>
                </a:moveTo>
                <a:lnTo>
                  <a:pt x="12594035" y="0"/>
                </a:lnTo>
                <a:lnTo>
                  <a:pt x="12594035" y="739129"/>
                </a:lnTo>
                <a:lnTo>
                  <a:pt x="0" y="7391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Clone the monolithic repo to local workspace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Scan files to extract structure and content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Identify classes, methods, and dependencies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Prepare data for further analysis steps</a:t>
            </a:r>
            <a:endParaRPr lang="en-US" sz="3600">
              <a:ea typeface="Calibri"/>
              <a:cs typeface="Calibri"/>
            </a:endParaRPr>
          </a:p>
        </p:txBody>
      </p:sp>
      <p:pic>
        <p:nvPicPr>
          <p:cNvPr id="7" name="Picture 6" descr="HashedIn by Deloitte">
            <a:extLst>
              <a:ext uri="{FF2B5EF4-FFF2-40B4-BE49-F238E27FC236}">
                <a16:creationId xmlns:a16="http://schemas.microsoft.com/office/drawing/2014/main" id="{237C65A2-1306-1136-1E4C-2DAEC3C478F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7"/>
          <p:cNvSpPr/>
          <p:nvPr/>
        </p:nvSpPr>
        <p:spPr>
          <a:xfrm>
            <a:off x="1081518" y="2004233"/>
            <a:ext cx="9445526" cy="1292074"/>
          </a:xfrm>
          <a:custGeom>
            <a:avLst/>
            <a:gdLst/>
            <a:ahLst/>
            <a:cxnLst/>
            <a:rect l="l" t="t" r="r" b="b"/>
            <a:pathLst>
              <a:path w="12594035" h="3623458">
                <a:moveTo>
                  <a:pt x="0" y="0"/>
                </a:moveTo>
                <a:lnTo>
                  <a:pt x="12594035" y="0"/>
                </a:lnTo>
                <a:lnTo>
                  <a:pt x="12594035" y="3623458"/>
                </a:lnTo>
                <a:lnTo>
                  <a:pt x="0" y="362345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r>
              <a:rPr lang="en-US" sz="7650" b="1">
                <a:solidFill>
                  <a:srgbClr val="403C4E"/>
                </a:solidFill>
                <a:latin typeface="Merriweather Bold"/>
              </a:rPr>
              <a:t>File Sorting</a:t>
            </a:r>
            <a:endParaRPr lang="en-US"/>
          </a:p>
        </p:txBody>
      </p:sp>
      <p:sp>
        <p:nvSpPr>
          <p:cNvPr id="9" name="TextBox 11"/>
          <p:cNvSpPr txBox="1"/>
          <p:nvPr/>
        </p:nvSpPr>
        <p:spPr>
          <a:xfrm>
            <a:off x="1081518" y="3800858"/>
            <a:ext cx="9445526" cy="51303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600">
                <a:solidFill>
                  <a:srgbClr val="403C4E"/>
                </a:solidFill>
                <a:latin typeface="+mj-lt"/>
                <a:ea typeface="Open Sans"/>
                <a:cs typeface="Open Sans"/>
              </a:rPr>
              <a:t>Build internal dependency graph between files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600">
                <a:solidFill>
                  <a:srgbClr val="403C4E"/>
                </a:solidFill>
                <a:latin typeface="+mj-lt"/>
                <a:ea typeface="Open Sans"/>
                <a:cs typeface="Open Sans"/>
              </a:rPr>
              <a:t>Detect </a:t>
            </a:r>
            <a:r>
              <a:rPr lang="en-US" sz="3600">
                <a:solidFill>
                  <a:srgbClr val="403C4E"/>
                </a:solidFill>
                <a:ea typeface="Open Sans"/>
                <a:cs typeface="Open Sans"/>
              </a:rPr>
              <a:t>and</a:t>
            </a:r>
            <a:r>
              <a:rPr lang="en-US" sz="3600">
                <a:solidFill>
                  <a:srgbClr val="403C4E"/>
                </a:solidFill>
                <a:latin typeface="+mj-lt"/>
                <a:ea typeface="Open Sans"/>
                <a:cs typeface="Open Sans"/>
              </a:rPr>
              <a:t> handle circular dependencies if present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600">
                <a:solidFill>
                  <a:srgbClr val="403C4E"/>
                </a:solidFill>
                <a:latin typeface="+mj-lt"/>
                <a:ea typeface="Open Sans"/>
                <a:cs typeface="Open Sans"/>
              </a:rPr>
              <a:t>Sort files based on dependency resolution order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600">
                <a:solidFill>
                  <a:srgbClr val="403C4E"/>
                </a:solidFill>
                <a:latin typeface="+mj-lt"/>
                <a:ea typeface="Open Sans"/>
                <a:cs typeface="Open Sans"/>
              </a:rPr>
              <a:t>Ensure correct execution flow for microservice extraction</a:t>
            </a:r>
          </a:p>
        </p:txBody>
      </p:sp>
      <p:pic>
        <p:nvPicPr>
          <p:cNvPr id="16" name="Picture 15" descr="HashedIn by Deloitte">
            <a:extLst>
              <a:ext uri="{FF2B5EF4-FFF2-40B4-BE49-F238E27FC236}">
                <a16:creationId xmlns:a16="http://schemas.microsoft.com/office/drawing/2014/main" id="{CAAF13BE-C0CE-BB14-B8D9-856B858545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  <p:pic>
        <p:nvPicPr>
          <p:cNvPr id="15" name="Picture 14" descr="Weaviate 1.19 Release | Weaviate">
            <a:extLst>
              <a:ext uri="{FF2B5EF4-FFF2-40B4-BE49-F238E27FC236}">
                <a16:creationId xmlns:a16="http://schemas.microsoft.com/office/drawing/2014/main" id="{64FACC62-B4C7-2BEE-48AD-A5EF7D69C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5413" y="3330921"/>
            <a:ext cx="7179843" cy="4301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04522D-2E98-574A-6D14-E250C4C102E2}"/>
              </a:ext>
            </a:extLst>
          </p:cNvPr>
          <p:cNvSpPr txBox="1"/>
          <p:nvPr/>
        </p:nvSpPr>
        <p:spPr>
          <a:xfrm>
            <a:off x="1113183" y="1386509"/>
            <a:ext cx="10346634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650" b="1">
                <a:solidFill>
                  <a:srgbClr val="403C4E"/>
                </a:solidFill>
                <a:latin typeface="Merriweather Bold"/>
              </a:rPr>
              <a:t>Identifying possible microservices</a:t>
            </a:r>
            <a:endParaRPr lang="en-US" sz="7650">
              <a:latin typeface="Merriweather Bold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C44338A2-4B6F-F8F5-7E93-FDAC6459F37E}"/>
              </a:ext>
            </a:extLst>
          </p:cNvPr>
          <p:cNvSpPr txBox="1"/>
          <p:nvPr/>
        </p:nvSpPr>
        <p:spPr>
          <a:xfrm>
            <a:off x="1108194" y="4358813"/>
            <a:ext cx="9445526" cy="451616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4400">
                <a:solidFill>
                  <a:srgbClr val="403C4E"/>
                </a:solidFill>
                <a:ea typeface="+mn-lt"/>
                <a:cs typeface="+mn-lt"/>
              </a:rPr>
              <a:t>Analyze internal file dependencies</a:t>
            </a:r>
            <a:endParaRPr lang="en-US" sz="44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4400">
                <a:solidFill>
                  <a:srgbClr val="403C4E"/>
                </a:solidFill>
                <a:ea typeface="+mn-lt"/>
                <a:cs typeface="+mn-lt"/>
              </a:rPr>
              <a:t>Group files with strong cohesion</a:t>
            </a:r>
            <a:endParaRPr lang="en-US" sz="44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4400">
                <a:solidFill>
                  <a:srgbClr val="403C4E"/>
                </a:solidFill>
                <a:ea typeface="+mn-lt"/>
                <a:cs typeface="+mn-lt"/>
              </a:rPr>
              <a:t>Identify functional boundaries</a:t>
            </a:r>
            <a:endParaRPr lang="en-US" sz="4400"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4400">
                <a:solidFill>
                  <a:srgbClr val="403C4E"/>
                </a:solidFill>
                <a:ea typeface="+mn-lt"/>
                <a:cs typeface="+mn-lt"/>
              </a:rPr>
              <a:t>Propose initial microservice clusters</a:t>
            </a:r>
            <a:endParaRPr lang="en-US" sz="4400">
              <a:ea typeface="Calibri"/>
              <a:cs typeface="Calibri"/>
            </a:endParaRPr>
          </a:p>
        </p:txBody>
      </p:sp>
      <p:pic>
        <p:nvPicPr>
          <p:cNvPr id="4" name="Picture 3" descr="Benefits and Challenges of Microservices | by Elchin Gasimov | Medium">
            <a:extLst>
              <a:ext uri="{FF2B5EF4-FFF2-40B4-BE49-F238E27FC236}">
                <a16:creationId xmlns:a16="http://schemas.microsoft.com/office/drawing/2014/main" id="{AF1C672F-58EE-19A1-D46A-8E63CBD3C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129" b="1932"/>
          <a:stretch/>
        </p:blipFill>
        <p:spPr>
          <a:xfrm>
            <a:off x="10027951" y="2042088"/>
            <a:ext cx="8262167" cy="61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82684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5208091" y="692923"/>
            <a:ext cx="7871818" cy="3916264"/>
          </a:xfrm>
          <a:custGeom>
            <a:avLst/>
            <a:gdLst/>
            <a:ahLst/>
            <a:cxnLst/>
            <a:rect l="l" t="t" r="r" b="b"/>
            <a:pathLst>
              <a:path w="7871818" h="3916264">
                <a:moveTo>
                  <a:pt x="0" y="0"/>
                </a:moveTo>
                <a:lnTo>
                  <a:pt x="7871818" y="0"/>
                </a:lnTo>
                <a:lnTo>
                  <a:pt x="7871818" y="3916264"/>
                </a:lnTo>
                <a:lnTo>
                  <a:pt x="0" y="391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" b="-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057867" y="4820332"/>
            <a:ext cx="14172268" cy="1400771"/>
          </a:xfrm>
          <a:custGeom>
            <a:avLst/>
            <a:gdLst/>
            <a:ahLst/>
            <a:cxnLst/>
            <a:rect l="l" t="t" r="r" b="b"/>
            <a:pathLst>
              <a:path w="22288486" h="1867695">
                <a:moveTo>
                  <a:pt x="0" y="0"/>
                </a:moveTo>
                <a:lnTo>
                  <a:pt x="22288486" y="0"/>
                </a:lnTo>
                <a:lnTo>
                  <a:pt x="22288486" y="1867695"/>
                </a:lnTo>
                <a:lnTo>
                  <a:pt x="0" y="18676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r>
              <a:rPr lang="en-US" sz="7200">
                <a:ea typeface="Calibri"/>
                <a:cs typeface="Calibri"/>
              </a:rPr>
              <a:t>Generating Code Plan</a:t>
            </a:r>
          </a:p>
        </p:txBody>
      </p:sp>
      <p:sp>
        <p:nvSpPr>
          <p:cNvPr id="10" name="Freeform 10"/>
          <p:cNvSpPr/>
          <p:nvPr/>
        </p:nvSpPr>
        <p:spPr>
          <a:xfrm>
            <a:off x="2150684" y="5926135"/>
            <a:ext cx="14610041" cy="3706338"/>
          </a:xfrm>
          <a:custGeom>
            <a:avLst/>
            <a:gdLst/>
            <a:ahLst/>
            <a:cxnLst/>
            <a:rect l="l" t="t" r="r" b="b"/>
            <a:pathLst>
              <a:path w="21738034" h="745869">
                <a:moveTo>
                  <a:pt x="0" y="0"/>
                </a:moveTo>
                <a:lnTo>
                  <a:pt x="21738034" y="0"/>
                </a:lnTo>
                <a:lnTo>
                  <a:pt x="21738034" y="745869"/>
                </a:lnTo>
                <a:lnTo>
                  <a:pt x="0" y="74586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Map each file to a target microservice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Extract function details and responsibilities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Detect cross-microservice function calls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Structure output into JSON for each microservice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9" name="Freeform 7"/>
          <p:cNvSpPr/>
          <p:nvPr/>
        </p:nvSpPr>
        <p:spPr>
          <a:xfrm>
            <a:off x="2057867" y="4820332"/>
            <a:ext cx="14172268" cy="1400771"/>
          </a:xfrm>
          <a:custGeom>
            <a:avLst/>
            <a:gdLst/>
            <a:ahLst/>
            <a:cxnLst/>
            <a:rect l="l" t="t" r="r" b="b"/>
            <a:pathLst>
              <a:path w="22288486" h="1867695">
                <a:moveTo>
                  <a:pt x="0" y="0"/>
                </a:moveTo>
                <a:lnTo>
                  <a:pt x="22288486" y="0"/>
                </a:lnTo>
                <a:lnTo>
                  <a:pt x="22288486" y="1867695"/>
                </a:lnTo>
                <a:lnTo>
                  <a:pt x="0" y="18676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r>
              <a:rPr lang="en-US" sz="7200">
                <a:ea typeface="Calibri"/>
                <a:cs typeface="Calibri"/>
              </a:rPr>
              <a:t>Generating Code Plan</a:t>
            </a:r>
          </a:p>
        </p:txBody>
      </p:sp>
      <p:sp>
        <p:nvSpPr>
          <p:cNvPr id="11" name="Freeform 10"/>
          <p:cNvSpPr/>
          <p:nvPr/>
        </p:nvSpPr>
        <p:spPr>
          <a:xfrm>
            <a:off x="2150684" y="5926135"/>
            <a:ext cx="14610041" cy="3706338"/>
          </a:xfrm>
          <a:custGeom>
            <a:avLst/>
            <a:gdLst/>
            <a:ahLst/>
            <a:cxnLst/>
            <a:rect l="l" t="t" r="r" b="b"/>
            <a:pathLst>
              <a:path w="21738034" h="745869">
                <a:moveTo>
                  <a:pt x="0" y="0"/>
                </a:moveTo>
                <a:lnTo>
                  <a:pt x="21738034" y="0"/>
                </a:lnTo>
                <a:lnTo>
                  <a:pt x="21738034" y="745869"/>
                </a:lnTo>
                <a:lnTo>
                  <a:pt x="0" y="74586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Map each file to a target microservice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Extract function details and responsibilities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Detect cross-microservice function calls</a:t>
            </a:r>
            <a:endParaRPr lang="en-US" sz="36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Structure output into JSON for each microservice</a:t>
            </a:r>
            <a:endParaRPr lang="en-US" sz="3600">
              <a:ea typeface="Calibri"/>
              <a:cs typeface="Calibri"/>
            </a:endParaRPr>
          </a:p>
        </p:txBody>
      </p:sp>
      <p:pic>
        <p:nvPicPr>
          <p:cNvPr id="19" name="Picture 18" descr="HashedIn by Deloitte">
            <a:extLst>
              <a:ext uri="{FF2B5EF4-FFF2-40B4-BE49-F238E27FC236}">
                <a16:creationId xmlns:a16="http://schemas.microsoft.com/office/drawing/2014/main" id="{0AB60737-7727-C518-6B00-D50691268E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7850237" y="692223"/>
            <a:ext cx="9445526" cy="24812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9625"/>
              </a:lnSpc>
            </a:pPr>
            <a:r>
              <a:rPr lang="en-US" sz="76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Consolidated Markdown File</a:t>
            </a: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850237" y="3506511"/>
            <a:ext cx="9445526" cy="6060660"/>
          </a:xfrm>
          <a:custGeom>
            <a:avLst/>
            <a:gdLst/>
            <a:ahLst/>
            <a:cxnLst/>
            <a:rect l="l" t="t" r="r" b="b"/>
            <a:pathLst>
              <a:path w="12594035" h="755848">
                <a:moveTo>
                  <a:pt x="0" y="0"/>
                </a:moveTo>
                <a:lnTo>
                  <a:pt x="12594035" y="0"/>
                </a:lnTo>
                <a:lnTo>
                  <a:pt x="12594035" y="755848"/>
                </a:lnTo>
                <a:lnTo>
                  <a:pt x="0" y="75584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Combine all microservice plans into one document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Include file paths, functions, and dependencies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Highlight cross-service interactions clearly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Present as a developer-friendly migration guide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0237" y="692223"/>
            <a:ext cx="9445526" cy="248126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ts val="9625"/>
              </a:lnSpc>
            </a:pPr>
            <a:r>
              <a:rPr lang="en-US" sz="7650" b="1">
                <a:solidFill>
                  <a:srgbClr val="403C4E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Consolidated Markdown File</a:t>
            </a: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  <a:p>
            <a:pPr>
              <a:lnSpc>
                <a:spcPts val="9625"/>
              </a:lnSpc>
            </a:pPr>
            <a:endParaRPr lang="en-US" sz="7650" b="1">
              <a:solidFill>
                <a:srgbClr val="403C4E"/>
              </a:solidFill>
              <a:latin typeface="Merriweather Bold"/>
              <a:ea typeface="Merriweather Bold"/>
              <a:cs typeface="Merriweather Bold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7850237" y="3506511"/>
            <a:ext cx="9445526" cy="6060660"/>
          </a:xfrm>
          <a:custGeom>
            <a:avLst/>
            <a:gdLst/>
            <a:ahLst/>
            <a:cxnLst/>
            <a:rect l="l" t="t" r="r" b="b"/>
            <a:pathLst>
              <a:path w="12594035" h="755848">
                <a:moveTo>
                  <a:pt x="0" y="0"/>
                </a:moveTo>
                <a:lnTo>
                  <a:pt x="12594035" y="0"/>
                </a:lnTo>
                <a:lnTo>
                  <a:pt x="12594035" y="755848"/>
                </a:lnTo>
                <a:lnTo>
                  <a:pt x="0" y="75584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  <p:txBody>
          <a:bodyPr lIns="91440" tIns="45720" rIns="91440" bIns="45720" anchor="t"/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Combine all microservice plans into one document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Include file paths, functions, and dependencies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Highlight cross-service interactions clearly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Present as a developer-friendly migration guide</a:t>
            </a:r>
            <a:endParaRPr lang="en-US" sz="3600">
              <a:ea typeface="Calibri"/>
              <a:cs typeface="Calibri"/>
            </a:endParaRPr>
          </a:p>
        </p:txBody>
      </p:sp>
      <p:pic>
        <p:nvPicPr>
          <p:cNvPr id="22" name="Picture 21" descr="HashedIn by Deloitte">
            <a:extLst>
              <a:ext uri="{FF2B5EF4-FFF2-40B4-BE49-F238E27FC236}">
                <a16:creationId xmlns:a16="http://schemas.microsoft.com/office/drawing/2014/main" id="{AEE60890-B7EA-6EC9-0561-CDF9857A2C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4E29D1-2225-5930-D11D-CE4B5D4BEB7B}"/>
              </a:ext>
            </a:extLst>
          </p:cNvPr>
          <p:cNvSpPr txBox="1"/>
          <p:nvPr/>
        </p:nvSpPr>
        <p:spPr>
          <a:xfrm>
            <a:off x="2684048" y="3855401"/>
            <a:ext cx="1232344" cy="55399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2238" y="3757315"/>
            <a:ext cx="16303526" cy="2715220"/>
            <a:chOff x="0" y="-76200"/>
            <a:chExt cx="21738035" cy="36202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38034" cy="3544093"/>
            </a:xfrm>
            <a:custGeom>
              <a:avLst/>
              <a:gdLst/>
              <a:ahLst/>
              <a:cxnLst/>
              <a:rect l="l" t="t" r="r" b="b"/>
              <a:pathLst>
                <a:path w="21738034" h="3544093">
                  <a:moveTo>
                    <a:pt x="0" y="0"/>
                  </a:moveTo>
                  <a:lnTo>
                    <a:pt x="21738034" y="0"/>
                  </a:lnTo>
                  <a:lnTo>
                    <a:pt x="21738034" y="3544093"/>
                  </a:lnTo>
                  <a:lnTo>
                    <a:pt x="0" y="35440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>
                <a:solidFill>
                  <a:schemeClr val="accent3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1738035" cy="36202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0875"/>
                </a:lnSpc>
              </a:pPr>
              <a:r>
                <a:rPr lang="en-US" sz="16650" b="1">
                  <a:solidFill>
                    <a:schemeClr val="tx2">
                      <a:lumMod val="20000"/>
                      <a:lumOff val="80000"/>
                    </a:schemeClr>
                  </a:solidFill>
                  <a:latin typeface="Viner Hand ITC"/>
                  <a:ea typeface="Merriweather Bold"/>
                  <a:cs typeface="Merriweather Bold"/>
                  <a:sym typeface="Merriweather Bold"/>
                </a:rPr>
                <a:t>THANK</a:t>
              </a:r>
              <a:r>
                <a:rPr lang="en-US" sz="16650" b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Viner Hand ITC"/>
                  <a:ea typeface="Merriweather Bold"/>
                  <a:cs typeface="Merriweather Bold"/>
                  <a:sym typeface="Merriweather Bold"/>
                </a:rPr>
                <a:t> </a:t>
              </a:r>
              <a:r>
                <a:rPr lang="en-US" sz="1665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Viner Hand ITC"/>
                  <a:ea typeface="Merriweather Bold"/>
                  <a:cs typeface="Merriweather Bold"/>
                  <a:sym typeface="Merriweather Bold"/>
                </a:rPr>
                <a:t>YOU</a:t>
              </a:r>
            </a:p>
          </p:txBody>
        </p:sp>
      </p:grpSp>
      <p:pic>
        <p:nvPicPr>
          <p:cNvPr id="9" name="Picture 8" descr="HashedIn by Deloitte">
            <a:extLst>
              <a:ext uri="{FF2B5EF4-FFF2-40B4-BE49-F238E27FC236}">
                <a16:creationId xmlns:a16="http://schemas.microsoft.com/office/drawing/2014/main" id="{0A9859D3-2345-9D5E-BE9B-B511A713D1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396" r="-827" b="26923"/>
          <a:stretch/>
        </p:blipFill>
        <p:spPr>
          <a:xfrm>
            <a:off x="1099" y="2424"/>
            <a:ext cx="2160838" cy="916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1F69E21B21C34C8002FF84B13FEB7B" ma:contentTypeVersion="10" ma:contentTypeDescription="Create a new document." ma:contentTypeScope="" ma:versionID="ebf51fb6e6a4e0afaff3550128790bdc">
  <xsd:schema xmlns:xsd="http://www.w3.org/2001/XMLSchema" xmlns:xs="http://www.w3.org/2001/XMLSchema" xmlns:p="http://schemas.microsoft.com/office/2006/metadata/properties" xmlns:ns2="61b4a415-dd68-4569-a426-089b367d0f32" xmlns:ns3="da68ed04-99d3-4366-92d0-901e05582239" targetNamespace="http://schemas.microsoft.com/office/2006/metadata/properties" ma:root="true" ma:fieldsID="f22f944f3c2f7ef06943a6bd20814276" ns2:_="" ns3:_="">
    <xsd:import namespace="61b4a415-dd68-4569-a426-089b367d0f32"/>
    <xsd:import namespace="da68ed04-99d3-4366-92d0-901e055822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b4a415-dd68-4569-a426-089b367d0f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68ed04-99d3-4366-92d0-901e055822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702173f-feb8-4239-8bf5-f7f1ef424541}" ma:internalName="TaxCatchAll" ma:showField="CatchAllData" ma:web="da68ed04-99d3-4366-92d0-901e055822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b4a415-dd68-4569-a426-089b367d0f32">
      <Terms xmlns="http://schemas.microsoft.com/office/infopath/2007/PartnerControls"/>
    </lcf76f155ced4ddcb4097134ff3c332f>
    <TaxCatchAll xmlns="da68ed04-99d3-4366-92d0-901e0558223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662647-31FD-474B-8BA7-7A01B1F8F9E6}">
  <ds:schemaRefs>
    <ds:schemaRef ds:uri="61b4a415-dd68-4569-a426-089b367d0f32"/>
    <ds:schemaRef ds:uri="da68ed04-99d3-4366-92d0-901e055822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AE10D31-8FC0-4FBF-B60A-5ED327048501}">
  <ds:schemaRefs>
    <ds:schemaRef ds:uri="61b4a415-dd68-4569-a426-089b367d0f32"/>
    <ds:schemaRef ds:uri="da68ed04-99d3-4366-92d0-901e055822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F65745A-E555-474E-A419-6F04A9D7BA1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 4_3 onscreen</Template>
  <Application>Microsoft Office PowerPoint</Application>
  <PresentationFormat>Custom</PresentationFormat>
  <Slides>11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Focuses on analyzing an existing monolithic codebase. Systematically transforming it into a microservices architecture. Leverages LLMs for intelligent code understanding, service decomposition, and documentation.</dc:title>
  <cp:revision>4</cp:revision>
  <dcterms:created xsi:type="dcterms:W3CDTF">2006-08-16T00:00:00Z</dcterms:created>
  <dcterms:modified xsi:type="dcterms:W3CDTF">2025-04-14T13:45:09Z</dcterms:modified>
  <dc:identifier>DAGjy8P3EO8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0x010100D81F69E21B21C34C8002FF84B13FEB7B</vt:lpwstr>
  </property>
  <property fmtid="{D5CDD505-2E9C-101B-9397-08002B2CF9AE}" pid="3" name="MediaServiceImageTags">
    <vt:lpwstr/>
  </property>
</Properties>
</file>